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72" r:id="rId5"/>
    <p:sldId id="392" r:id="rId6"/>
    <p:sldId id="393" r:id="rId7"/>
    <p:sldId id="42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FA256-96A0-4DF1-8F5D-F16FD43E0A80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A919B-7D30-4E3E-9D0B-4302285EC5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44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9DD1-32CA-2B76-21E4-D805741C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D55FADB-D747-512D-5B62-FE370D336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8F7CE5-A5B4-81C2-1E97-B7C083A8C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C4A0C5-3C8C-EB1B-3857-D5D519377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A919B-7D30-4E3E-9D0B-4302285EC56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509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B1BB0-BA8D-A585-321F-CDC4B7538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CAAF71-78FE-A13F-EBBE-9322C3B05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48C7A7-E195-EC73-78AE-02C1B433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D4DAF9-230E-7E10-172F-25F2680A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B51A0F-27DA-AF28-D586-F2957D4D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43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3B560-3330-5E6C-21EC-2512C0DD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94EF27-DE48-8FFD-BD44-57202A24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5EF099-C332-150A-DC86-9A89D243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A2CFD5-C1B5-981D-69AA-F8009BA5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51624F-921F-08A5-5B8F-514F86E5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401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FF058-D4A5-2FAE-9960-22A6F96B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BB9228-81D2-7536-9C45-4C1818811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3CB06-508C-B074-4C1F-EF801FDE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21848F-A9AB-C3C1-20B4-6BE17217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1EA49A-908A-6EB8-2AC5-EC869062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75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DF782-7D30-7D9D-4EB0-96CEA769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16F6EE-9F3A-C002-2359-ACADA730D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2FD702-7B50-E5AE-54C8-F2EB005DF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26C4E4-F784-ABA3-23C5-3E62EAD2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794699-268A-EA4B-5812-253B5F1F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4DD55D-C53A-99B9-D028-77B03A87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13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A9124-218E-9BDA-AC7F-024E57F04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C44FFD-6C57-A3CC-89A0-213D22841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06D0B6-20BD-1AE4-52AA-81A33EF38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4D00F3-719F-00D7-6E32-DB7927BB8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903E782-974D-8B0A-53CB-A512031F7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662C521-DAEB-A929-A2E5-E571DFA0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C592B9-9D9F-D4BF-23C7-6188D87E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FA0BE5-5EDF-93BA-5AF1-37200F4B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63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9EF72-C3F6-9AF4-B40E-12FF9F5C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260C4F-6174-D473-7AA6-DBA3216E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632E6E-354C-CDAF-6A4F-759C8E65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55B566-2B54-AEB9-05A5-387CD097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864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D6B20A-BA4C-8379-8334-0B0C1BCF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F9B0C9D-05D4-8D25-75D6-C094CB9B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93FD38-A6FC-4B5D-8720-E75FE24E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53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FF51D-B5C1-C771-6114-F2625851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EE6882-C81B-5DA2-A28F-2BE69E13A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F94102-29E2-67E3-F9C4-70472F76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9B11BD-DA66-E5DF-DFB2-DE26F9F7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C2B4A5-19EF-9B57-208A-3797BB32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AD31D5-EA10-570A-CF65-67FF3CD7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49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9D9F7-5D94-EE78-B982-39297AB0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B6CC63-0462-CE55-3227-6611F28BA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BB2834-EDE0-4091-C043-E385209CD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A3695D-9E21-1D1F-6BF3-DA3E27E5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75EF84-00BC-123F-C16D-B2C09930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243970-BE51-0A3E-15BD-44CCBFCE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40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6EBE7-A28A-52D9-46D0-C99ABB36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82430E-06E1-C870-6B5C-DE2A59254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818AF-E4F2-600D-52F1-6C9E7884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4C5035-6657-D6ED-FC0B-21A51A15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442A3D-7C80-D484-2AF5-1BC786B5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96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79BA61-AAE7-494D-1ABB-9EFAC2837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496F09-D130-F3B9-F9C6-4C1E5878F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7EF091-D05D-A1B5-B53D-CAD659608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9F849-2635-D871-43FC-3C096FAB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6E103E-FE71-FAAD-12CE-96B9BC42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07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capa - Caminhã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C3ED725-62F4-4110-9D46-8C228B34E2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FA5091-FFD4-832A-DB98-78606578C4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3" y="308193"/>
            <a:ext cx="982785" cy="196557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47B188-2CB7-EF67-165C-066CF95A98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6348" y="2982886"/>
            <a:ext cx="8359304" cy="89222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400" b="1" i="0">
                <a:solidFill>
                  <a:srgbClr val="EDF7F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BR"/>
              <a:t>TÍTULO TEMA</a:t>
            </a:r>
          </a:p>
        </p:txBody>
      </p:sp>
    </p:spTree>
    <p:extLst>
      <p:ext uri="{BB962C8B-B14F-4D97-AF65-F5344CB8AC3E}">
        <p14:creationId xmlns:p14="http://schemas.microsoft.com/office/powerpoint/2010/main" val="3703876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s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EFF5EA87-42E4-4540-AB67-F8CA9EDF30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951" y="289451"/>
            <a:ext cx="1307067" cy="3915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7983E93-52CE-40E3-BB45-DE0D33F584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84" y="0"/>
            <a:ext cx="12180231" cy="6857999"/>
          </a:xfrm>
          <a:prstGeom prst="rect">
            <a:avLst/>
          </a:prstGeom>
        </p:spPr>
      </p:pic>
      <p:pic>
        <p:nvPicPr>
          <p:cNvPr id="4" name="Imagem 8">
            <a:extLst>
              <a:ext uri="{FF2B5EF4-FFF2-40B4-BE49-F238E27FC236}">
                <a16:creationId xmlns:a16="http://schemas.microsoft.com/office/drawing/2014/main" id="{BC5D8C7E-3D05-530D-F620-CEA051DD08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371" y="199019"/>
            <a:ext cx="1307067" cy="391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309177-5340-35EB-4265-A8E2DDFBD2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3" y="308193"/>
            <a:ext cx="982785" cy="196557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D7BE6C6-8EFE-8A42-2C16-02C99CE3FD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5434" y="276098"/>
            <a:ext cx="6220540" cy="28241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rgbClr val="EDF7F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BR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620847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ndo Azul Cla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AAE69B-7227-4389-87B0-0F71D4F2CD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84" y="0"/>
            <a:ext cx="12186115" cy="6861313"/>
          </a:xfrm>
          <a:prstGeom prst="rect">
            <a:avLst/>
          </a:prstGeom>
        </p:spPr>
      </p:pic>
      <p:pic>
        <p:nvPicPr>
          <p:cNvPr id="5" name="Imagem 8" descr="Uma imagem contendo gráficos vetoriais&#10;&#10;Descrição gerada automaticamente">
            <a:extLst>
              <a:ext uri="{FF2B5EF4-FFF2-40B4-BE49-F238E27FC236}">
                <a16:creationId xmlns:a16="http://schemas.microsoft.com/office/drawing/2014/main" id="{12592859-F135-A364-2059-D33DB692D1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9460" y="224788"/>
            <a:ext cx="1231786" cy="36336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A968F35-9079-FA42-5CF0-305EB1CF2A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5434" y="276098"/>
            <a:ext cx="6220540" cy="28241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rgbClr val="0066C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BR"/>
              <a:t>PLACEHOLDER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95426-0620-36A0-73E8-50BBABD973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3" y="308193"/>
            <a:ext cx="982785" cy="19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5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EFBE91-A6E6-4285-72C0-B305C7BF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78EBAB-43C9-2F36-1B9E-792D2FFE6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31C9D1-D87A-59C4-0834-C97FF5A21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A7566-A8FE-45FC-951B-1F14AD1997D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8B1C81-367D-2620-84B4-AA0EE6476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9213CE-D2EA-9B37-81ED-AADDBCEA0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A2CD8-7524-4AC1-A4FE-51DF8D7E19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03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, Retângulo&#10;&#10;Descrição gerada automaticamente">
            <a:extLst>
              <a:ext uri="{FF2B5EF4-FFF2-40B4-BE49-F238E27FC236}">
                <a16:creationId xmlns:a16="http://schemas.microsoft.com/office/drawing/2014/main" id="{233AFDB6-FA1C-4028-ABA6-B61821AB0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503" y="2846052"/>
            <a:ext cx="12875246" cy="305459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C30DBE6-40DB-485D-9F75-61CC013F9F4E}"/>
              </a:ext>
            </a:extLst>
          </p:cNvPr>
          <p:cNvSpPr txBox="1"/>
          <p:nvPr/>
        </p:nvSpPr>
        <p:spPr>
          <a:xfrm>
            <a:off x="313508" y="4071161"/>
            <a:ext cx="11587979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5000" b="1" dirty="0">
                <a:solidFill>
                  <a:schemeClr val="bg1"/>
                </a:solidFill>
                <a:latin typeface="Segoe UI"/>
                <a:cs typeface="Segoe UI"/>
              </a:rPr>
              <a:t>Projeto Funil de </a:t>
            </a:r>
            <a:r>
              <a:rPr lang="pt-BR" sz="5000" b="1" dirty="0" err="1">
                <a:solidFill>
                  <a:schemeClr val="bg1"/>
                </a:solidFill>
                <a:latin typeface="Segoe UI"/>
                <a:cs typeface="Segoe UI"/>
              </a:rPr>
              <a:t>Ongoing</a:t>
            </a:r>
            <a:r>
              <a:rPr lang="pt-BR" sz="5000" b="1" dirty="0">
                <a:solidFill>
                  <a:schemeClr val="bg1"/>
                </a:solidFill>
                <a:latin typeface="Segoe UI"/>
                <a:cs typeface="Segoe UI"/>
              </a:rPr>
              <a:t> -</a:t>
            </a:r>
            <a:endParaRPr lang="pt-BR" sz="2000" b="1" dirty="0">
              <a:solidFill>
                <a:schemeClr val="bg1"/>
              </a:solidFill>
              <a:latin typeface="Segoe UI"/>
              <a:cs typeface="Segoe UI"/>
            </a:endParaRPr>
          </a:p>
          <a:p>
            <a:r>
              <a:rPr lang="pt-BR" sz="2400" b="1" dirty="0">
                <a:solidFill>
                  <a:schemeClr val="bg1"/>
                </a:solidFill>
                <a:latin typeface="Segoe UI"/>
                <a:cs typeface="Segoe UI"/>
              </a:rPr>
              <a:t>Março/26</a:t>
            </a:r>
            <a:endParaRPr lang="pt-BR" sz="2400" dirty="0"/>
          </a:p>
        </p:txBody>
      </p:sp>
      <p:pic>
        <p:nvPicPr>
          <p:cNvPr id="5" name="Imagem 8">
            <a:extLst>
              <a:ext uri="{FF2B5EF4-FFF2-40B4-BE49-F238E27FC236}">
                <a16:creationId xmlns:a16="http://schemas.microsoft.com/office/drawing/2014/main" id="{A03D95D8-13DC-42F3-8E09-D19F79CC34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84" y="388845"/>
            <a:ext cx="2758304" cy="82636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2216FBB-E200-DFDB-1CCF-C38720F5C0C5}"/>
              </a:ext>
            </a:extLst>
          </p:cNvPr>
          <p:cNvSpPr txBox="1"/>
          <p:nvPr/>
        </p:nvSpPr>
        <p:spPr>
          <a:xfrm>
            <a:off x="302010" y="1599743"/>
            <a:ext cx="11587979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5000" b="1" dirty="0">
                <a:solidFill>
                  <a:schemeClr val="bg1"/>
                </a:solidFill>
                <a:latin typeface="Segoe UI"/>
                <a:cs typeface="Segoe UI"/>
              </a:rPr>
              <a:t>LIVRE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91368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712B5-BD5E-93EF-E2DB-AE21F37B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316F648-DC04-57A8-32DD-6164757C10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pt-BR" sz="2400">
                <a:latin typeface="Segoe UI"/>
                <a:cs typeface="Segoe UI"/>
              </a:rPr>
              <a:t>ENTREGAS REALIZADAS </a:t>
            </a:r>
            <a:endParaRPr lang="pt-BR" sz="2400" b="1" i="1" u="sng">
              <a:solidFill>
                <a:srgbClr val="0066C2"/>
              </a:solidFill>
              <a:latin typeface="Segoe UI"/>
              <a:cs typeface="Segoe U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C6C550-AB41-C09C-4EBF-E8C42A81EBDF}"/>
              </a:ext>
            </a:extLst>
          </p:cNvPr>
          <p:cNvSpPr txBox="1"/>
          <p:nvPr/>
        </p:nvSpPr>
        <p:spPr>
          <a:xfrm>
            <a:off x="183629" y="951637"/>
            <a:ext cx="1182349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388456: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CONTRATO | Desativação da </a:t>
            </a:r>
            <a:r>
              <a:rPr lang="pt-BR" sz="16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ValidationRule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Assinatura do Contrato</a:t>
            </a:r>
          </a:p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389140: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 | Desenvolver Fluxo de Consulta com </a:t>
            </a:r>
            <a:r>
              <a:rPr lang="pt-BR" sz="16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Pré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-Score</a:t>
            </a:r>
          </a:p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395200: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PRODUTO | Voltar Flow e da UF de Emplacamento</a:t>
            </a:r>
          </a:p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395197: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LEAD | Desenvolvimento de Cadastro de Cidades via Integração</a:t>
            </a:r>
          </a:p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457607: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CONTRATO | Integração com Plataforma de Crédito "Tipo de Contrato"</a:t>
            </a:r>
          </a:p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419044: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 | Alterar Nome do Cliente após Subida de Nova Proposta</a:t>
            </a:r>
          </a:p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397404: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OPORTUNIDADE | Desenvolver Motivo de Perda (Fechado Perdido)</a:t>
            </a:r>
            <a:endParaRPr lang="pt-BR" sz="1600" b="0" i="0" dirty="0"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b="0" i="0" dirty="0"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b="0" i="0" dirty="0"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22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05C6-6711-86FE-0286-FF0F6274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C70BEA3-62A7-542A-6D5F-2AF2E410FF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pt-BR" sz="2400">
                <a:latin typeface="Segoe UI"/>
                <a:cs typeface="Segoe UI"/>
              </a:rPr>
              <a:t>ENTREGAS REALIZADAS </a:t>
            </a:r>
            <a:endParaRPr lang="pt-BR" sz="2400" b="1" i="1" u="sng">
              <a:solidFill>
                <a:srgbClr val="0066C2"/>
              </a:solidFill>
              <a:latin typeface="Segoe UI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EBA401-B346-2B6B-041B-76864B058258}"/>
              </a:ext>
            </a:extLst>
          </p:cNvPr>
          <p:cNvSpPr txBox="1"/>
          <p:nvPr/>
        </p:nvSpPr>
        <p:spPr>
          <a:xfrm>
            <a:off x="229224" y="857469"/>
            <a:ext cx="11733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u="sng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pt-BR" sz="1600" u="sng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Story 388456: 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CONTRATO | Desativação da </a:t>
            </a:r>
            <a:r>
              <a:rPr lang="pt-BR" sz="1600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ValidationRule</a:t>
            </a:r>
            <a:r>
              <a:rPr lang="pt-BR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Assinatura do Contrato</a:t>
            </a:r>
          </a:p>
        </p:txBody>
      </p:sp>
    </p:spTree>
    <p:extLst>
      <p:ext uri="{BB962C8B-B14F-4D97-AF65-F5344CB8AC3E}">
        <p14:creationId xmlns:p14="http://schemas.microsoft.com/office/powerpoint/2010/main" val="421954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86A5-7BEC-CD7A-35DF-17701BDE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72AE5BB-62D7-679D-94C9-6E63AF25CB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pt-BR" sz="2400">
                <a:latin typeface="Segoe UI"/>
                <a:cs typeface="Segoe UI"/>
              </a:rPr>
              <a:t>Aprovações</a:t>
            </a:r>
            <a:endParaRPr lang="pt-BR" sz="2400" b="1" i="1" u="sng">
              <a:solidFill>
                <a:srgbClr val="0066C2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123F7F-DD56-775D-5B25-F615342DD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571" y="13852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AF78F2-7C0B-D3D1-C7CE-FC190D452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E0EDA3B-2C80-44BA-4027-159560AD2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792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167043-EBA1-B7E2-3136-6B3C151D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50" y="1014068"/>
            <a:ext cx="5353797" cy="38105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91E5AF2-9571-E42E-8648-EC644ECB8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080" y="2250407"/>
            <a:ext cx="5458587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46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FD74158A63F84A9154FE6E55FCCBD1" ma:contentTypeVersion="13" ma:contentTypeDescription="Crie um novo documento." ma:contentTypeScope="" ma:versionID="ab91734706203be82e5de328056a906a">
  <xsd:schema xmlns:xsd="http://www.w3.org/2001/XMLSchema" xmlns:xs="http://www.w3.org/2001/XMLSchema" xmlns:p="http://schemas.microsoft.com/office/2006/metadata/properties" xmlns:ns2="d92a8bf1-7429-4067-98d1-26ebb6df6b67" xmlns:ns3="0bca8c19-57c0-4c24-a8ab-9947adfc6d41" targetNamespace="http://schemas.microsoft.com/office/2006/metadata/properties" ma:root="true" ma:fieldsID="c56dde0f2d8b40a302ef27e0ecd36a5a" ns2:_="" ns3:_="">
    <xsd:import namespace="d92a8bf1-7429-4067-98d1-26ebb6df6b67"/>
    <xsd:import namespace="0bca8c19-57c0-4c24-a8ab-9947adfc6d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2a8bf1-7429-4067-98d1-26ebb6df6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f57424a5-5e2b-4fef-8a80-1374db7286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ca8c19-57c0-4c24-a8ab-9947adfc6d4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a9d701-12ea-461e-9bdb-1b2c1e39fb4f}" ma:internalName="TaxCatchAll" ma:showField="CatchAllData" ma:web="0bca8c19-57c0-4c24-a8ab-9947adfc6d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2a8bf1-7429-4067-98d1-26ebb6df6b67">
      <Terms xmlns="http://schemas.microsoft.com/office/infopath/2007/PartnerControls"/>
    </lcf76f155ced4ddcb4097134ff3c332f>
    <TaxCatchAll xmlns="0bca8c19-57c0-4c24-a8ab-9947adfc6d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E6E47B-1DEB-4383-9A48-C81B408BDBD8}">
  <ds:schemaRefs>
    <ds:schemaRef ds:uri="0bca8c19-57c0-4c24-a8ab-9947adfc6d41"/>
    <ds:schemaRef ds:uri="d92a8bf1-7429-4067-98d1-26ebb6df6b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55A0B9-1812-4AD2-B3D2-49D2EF8E5F47}">
  <ds:schemaRefs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0bca8c19-57c0-4c24-a8ab-9947adfc6d41"/>
    <ds:schemaRef ds:uri="d92a8bf1-7429-4067-98d1-26ebb6df6b67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2DA0BE6-693D-4416-8A1A-AB5BCF2C51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1972</TotalTime>
  <Words>124</Words>
  <Application>Microsoft Office PowerPoint</Application>
  <PresentationFormat>Widescreen</PresentationFormat>
  <Paragraphs>17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Serafini</dc:creator>
  <cp:lastModifiedBy>Aggrandize - João Márcio Bicalho Andrade</cp:lastModifiedBy>
  <cp:revision>37</cp:revision>
  <dcterms:created xsi:type="dcterms:W3CDTF">2023-06-20T18:59:20Z</dcterms:created>
  <dcterms:modified xsi:type="dcterms:W3CDTF">2026-09-14T23:05:28Z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0x010100C1FD74158A63F84A9154FE6E55FCCBD1</vt:lpwstr>
  </property>
  <property fmtid="{D5CDD505-2E9C-101B-9397-08002B2CF9AE}" pid="3" name="MediaServiceImageTags">
    <vt:lpwstr/>
  </property>
</Properties>
</file>